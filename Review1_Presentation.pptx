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Calibri"/>
              </a:defRPr>
            </a:pPr>
            <a:r>
              <a:t>DESIGN AND IMPLEMENTATION OF A DATABASE MANAGEMENT SYSTEM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Library Circulation &amp;</a:t>
            </a:r>
            <a:br/>
            <a:r>
              <a:t>Digital Resource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2286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REVIEW 1  |  Project Based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Database Management Systems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50292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08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Problem Identification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920240"/>
            <a:ext cx="7315200" cy="9144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21408"/>
            <a:ext cx="50292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671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Scope &amp; Objectives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578608"/>
            <a:ext cx="7315200" cy="9144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779776"/>
            <a:ext cx="5029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2549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Users &amp; User Roles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3236976"/>
            <a:ext cx="7315200" cy="9144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438144"/>
            <a:ext cx="50292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48386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Functional Requirements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0" y="3895344"/>
            <a:ext cx="7315200" cy="9144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4096512"/>
            <a:ext cx="50292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1422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Non-Functional Requirements &amp; Business Rules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0" y="4553712"/>
            <a:ext cx="7315200" cy="9144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4754879"/>
            <a:ext cx="502920" cy="45720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80059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ER Diagram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5212079"/>
            <a:ext cx="7315200" cy="9144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5413248"/>
            <a:ext cx="50292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4589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Relational Schema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0" y="5870448"/>
            <a:ext cx="7315200" cy="9144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 Identification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Key challenges with manual and legacy library management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3474720" cy="1828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34747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Unreliable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Manual ledgers lead to discrepancies in book locations, availability, and member histories.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2286000"/>
            <a:ext cx="3474720" cy="1828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2286000"/>
            <a:ext cx="347472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Calibri"/>
              </a:defRPr>
            </a:pPr>
            <a:r>
              <a:t>No Digital Resource Mgmt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7432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Older systems lack infrastructure to track e-books, journals, audiobooks, and digital access.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2286000"/>
            <a:ext cx="3474720" cy="1828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2286000"/>
            <a:ext cx="34747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9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Manual Fine Calculation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27432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Prone to human error, inconsistencies, and disputes; creates unnecessary admin overhead.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89120"/>
            <a:ext cx="3474720" cy="1828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389120"/>
            <a:ext cx="34747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26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Calibri"/>
              </a:defRPr>
            </a:pPr>
            <a:r>
              <a:t>Inefficient Reservations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463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No automated queue system leads to chaotic, unfair distribution of popular titles.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79" y="4389120"/>
            <a:ext cx="3474720" cy="1828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79" y="4389120"/>
            <a:ext cx="3474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4526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Data Redundancy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48463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Duplicated information across registers causes anomalies and unreliable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03520" cy="42062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53035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IN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Physical Asset Management — books, journals, media</a:t>
            </a:r>
          </a:p>
          <a:p>
            <a:pPr>
              <a:spcBef>
                <a:spcPts val="2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Digital Resource Management — e-books, audiobooks</a:t>
            </a:r>
          </a:p>
          <a:p>
            <a:pPr>
              <a:spcBef>
                <a:spcPts val="2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Member Management — registration, profiling, tracking</a:t>
            </a:r>
          </a:p>
          <a:p>
            <a:pPr>
              <a:spcBef>
                <a:spcPts val="2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Circulation — issue, return, renewal workflows</a:t>
            </a:r>
          </a:p>
          <a:p>
            <a:pPr>
              <a:spcBef>
                <a:spcPts val="2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Reservation System — automated FIFO queuing</a:t>
            </a:r>
          </a:p>
          <a:p>
            <a:pPr>
              <a:spcBef>
                <a:spcPts val="2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Fine Management — auto-calculate &amp; track fines</a:t>
            </a:r>
          </a:p>
          <a:p>
            <a:pPr>
              <a:spcBef>
                <a:spcPts val="2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Digital Access Logging — usage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5303520" cy="42062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5303520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3F5E"/>
                </a:solidFill>
                <a:latin typeface="Calibri"/>
              </a:defRPr>
            </a:pPr>
            <a:r>
              <a:t>OUT OF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603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Inter-library loan systems</a:t>
            </a:r>
          </a:p>
          <a:p>
            <a:pPr>
              <a:spcBef>
                <a:spcPts val="2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E-commerce / payment gateway integration</a:t>
            </a:r>
          </a:p>
          <a:p>
            <a:pPr>
              <a:spcBef>
                <a:spcPts val="2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AI-driven recommendation engines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03120"/>
            <a:ext cx="2148840" cy="19202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214884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2286000"/>
            <a:ext cx="36576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042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Comprehensive Catalogue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7889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Centralize all physical &amp; digital assets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79" y="2103120"/>
            <a:ext cx="2148840" cy="19202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97479" y="2103120"/>
            <a:ext cx="21488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7" y="2286000"/>
            <a:ext cx="365760" cy="3657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19" y="23042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Accurate Circulation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7" y="27889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Real-time issue/return/inventory tracking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2103120"/>
            <a:ext cx="2148840" cy="19202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2103120"/>
            <a:ext cx="21488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2286000"/>
            <a:ext cx="36576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3042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Automated Fines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8928" y="27889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Rule-based overdue fine calculation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19" y="2103120"/>
            <a:ext cx="2148840" cy="19202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19" y="2103120"/>
            <a:ext cx="214884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70647" y="2286000"/>
            <a:ext cx="365760" cy="3657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59" y="23042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Efficient Reservations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7" y="27889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Fair, automated FIFO reservation queue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2103120"/>
            <a:ext cx="2148840" cy="19202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92640" y="2103120"/>
            <a:ext cx="21488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02368" y="2286000"/>
            <a:ext cx="36576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23042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Digital Access Logging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2368" y="27889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Track e-book/journal usage &amp; engagement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389120"/>
            <a:ext cx="2148840" cy="19202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389120"/>
            <a:ext cx="214884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5488" y="4572000"/>
            <a:ext cx="365760" cy="36576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5902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Insightful Reports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" y="50749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Overdue, popular books, fine collection reports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79" y="4389120"/>
            <a:ext cx="2148840" cy="19202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97479" y="4389120"/>
            <a:ext cx="214884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807207" y="4572000"/>
            <a:ext cx="36576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6119" y="45902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Data Integrity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07207" y="50749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PK, FK, CHECK constraints throughout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0" y="4389120"/>
            <a:ext cx="2148840" cy="19202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4389120"/>
            <a:ext cx="21488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138928" y="4572000"/>
            <a:ext cx="365760" cy="3657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7840" y="45902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Role-Based Access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38928" y="50749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Admin, Librarian, Member permissions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60919" y="4389120"/>
            <a:ext cx="2148840" cy="19202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60919" y="4389120"/>
            <a:ext cx="21488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470647" y="4572000"/>
            <a:ext cx="36576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9559" y="45902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Fast Search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70647" y="50749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Indexed multi-parameter catalogue search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92640" y="4389120"/>
            <a:ext cx="2148840" cy="19202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692640" y="4389120"/>
            <a:ext cx="214884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802368" y="4572000"/>
            <a:ext cx="365760" cy="3657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45902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Streamlined Admin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02368" y="50749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Reduce manual workload for staff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Users &amp; User Roles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2697480" cy="4114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6974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Admin / Chief Librarian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Full CRUD access to entire database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Manage catalogue &amp; member accounts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Process issues/returns, adjust fines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Override defaults, generate all 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103120"/>
            <a:ext cx="2697480" cy="4114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103120"/>
            <a:ext cx="26974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2402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Assistant Librarian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56032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Process day-to-day issues &amp; returns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Search catalogue, manage queries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Administer reservation queues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Cannot modify system config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2697480" cy="4114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26974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2402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Member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6032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Search catalogue, view availability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Place/cancel reservations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View borrowing history &amp; fines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Access digital resources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103120"/>
            <a:ext cx="2697480" cy="4114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103120"/>
            <a:ext cx="26974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22402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System / Automated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56032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Daily fine calculation triggers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Auto-expire unfulfilled reservations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FIFO queue state management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Overdue status updates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FR-001 through FR-012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5394960" cy="19202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539496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Catalogue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FR-001: Add/edit/remove books, authors, publishers, categories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FR-002: Manage multiple editions and copies per title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FR-003: Enforce unique ISBN and Accession Numbers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286000"/>
            <a:ext cx="5394960" cy="19202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2286000"/>
            <a:ext cx="539496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423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Member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43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FR-004: Register new members, update profiles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FR-005: Categorize by type (Student/Faculty/External)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FR-006: Track membership validity periods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80560"/>
            <a:ext cx="5394960" cy="19202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480560"/>
            <a:ext cx="53949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Circulation (Issue/Return)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FR-007: Issue physical copies to valid members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FR-008: One active issue per copy at a time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FR-009: Record returns, calculate overdue days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480560"/>
            <a:ext cx="5394960" cy="19202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4480560"/>
            <a:ext cx="53949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Reservation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FR-010: Place reservations on unavailable titles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FR-011: Maintain FIFO reservation queue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FR-012: Auto-expire unclaimed reservations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Functional Requirements (cont.)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FR-013 through FR-019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3566160" cy="22860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35661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Fine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FR-013: Auto-calculate fines based on overdue days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FR-014: Track partial and full fine payments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FR-015: Fine amounts must never be negative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286000"/>
            <a:ext cx="3566160" cy="22860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2286000"/>
            <a:ext cx="3566160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3F5E"/>
                </a:solidFill>
                <a:latin typeface="Calibri"/>
              </a:defRPr>
            </a:pPr>
            <a:r>
              <a:t>Digital Resource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7432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FR-016: Maintain records for e-books, journals, audiobooks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FR-017: Log every member download/view access securely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286000"/>
            <a:ext cx="3566160" cy="22860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286000"/>
            <a:ext cx="356616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Search &amp;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7432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FR-018: Search by title, author, ISBN, category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FR-019: Reports: available titles, overdue copies,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  member history, popular books, fine collection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Non-Functional Requirements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2148840" cy="27432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214884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256032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4612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11880"/>
            <a:ext cx="18745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Normalization up to 3NF,</a:t>
            </a:r>
            <a:br/>
            <a:r>
              <a:t>constraints to prevent</a:t>
            </a:r>
            <a:br/>
            <a:r>
              <a:t>orphaned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79" y="2286000"/>
            <a:ext cx="2148840" cy="27432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97479" y="2286000"/>
            <a:ext cx="214884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8999" y="2560320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324612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3611880"/>
            <a:ext cx="18745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Efficient queries with</a:t>
            </a:r>
            <a:br/>
            <a:r>
              <a:t>proper indexing on</a:t>
            </a:r>
            <a:br/>
            <a:r>
              <a:t>ISBN, Title, Author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2286000"/>
            <a:ext cx="2148840" cy="27432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2286000"/>
            <a:ext cx="2148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60720" y="2560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24612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3611880"/>
            <a:ext cx="18745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Role-Based Access Control</a:t>
            </a:r>
            <a:br/>
            <a:r>
              <a:t>(RBAC) for all user</a:t>
            </a:r>
            <a:br/>
            <a:r>
              <a:t>types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19" y="2286000"/>
            <a:ext cx="2148840" cy="27432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19" y="2286000"/>
            <a:ext cx="21488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92439" y="256032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24612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611880"/>
            <a:ext cx="18745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Handle thousands of</a:t>
            </a:r>
            <a:br/>
            <a:r>
              <a:t>members and millions</a:t>
            </a:r>
            <a:br/>
            <a:r>
              <a:t>of catalogue items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2286000"/>
            <a:ext cx="2148840" cy="27432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92640" y="2286000"/>
            <a:ext cx="21488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424160" y="2560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24612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Backup &amp; Recovery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3611880"/>
            <a:ext cx="18745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Scheduled automated</a:t>
            </a:r>
            <a:br/>
            <a:r>
              <a:t>backups with swift</a:t>
            </a:r>
            <a:br/>
            <a:r>
              <a:t>recovery mechanisms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Business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Core constraints governing the database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77724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BR-01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2286000"/>
            <a:ext cx="4572000" cy="6400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ISBN must be unique across all books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86000"/>
            <a:ext cx="777240" cy="6400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BR-02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286000"/>
            <a:ext cx="4572000" cy="6400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Accession number unique across all copies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54680"/>
            <a:ext cx="7772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BR-03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3154680"/>
            <a:ext cx="4572000" cy="6400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Only one active issue per copy at a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154680"/>
            <a:ext cx="777240" cy="6400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BR-04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3154680"/>
            <a:ext cx="4572000" cy="6400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Issue_Date &lt;= Due_Date always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77724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BR-05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4023360"/>
            <a:ext cx="4572000" cy="6400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Return_Date &gt;= Issue_Date when returned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023360"/>
            <a:ext cx="777240" cy="64008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BR-06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4023360"/>
            <a:ext cx="4572000" cy="6400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Reservations follow FIFO queue order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92040"/>
            <a:ext cx="77724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BR-07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4892040"/>
            <a:ext cx="4572000" cy="6400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Fine amounts must be non-negative (&gt;= 0)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892040"/>
            <a:ext cx="777240" cy="6400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BR-08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4892040"/>
            <a:ext cx="4572000" cy="6400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Max N active issues per member (by type)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60720"/>
            <a:ext cx="7772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BR-09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63040" y="5760720"/>
            <a:ext cx="4572000" cy="6400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Digital logs: Member + Resource + Timestamp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760720"/>
            <a:ext cx="777240" cy="6400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BR-10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5760720"/>
            <a:ext cx="4572000" cy="6400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Every copy linked to a valid edition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" cy="457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Entity-Relationship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Conceptual design covering 14 entities with cardinality notation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06984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103327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" cy="457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Entities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14 tables covering all principal domains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194560"/>
            <a:ext cx="1554480" cy="1828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15544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233172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Book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697480"/>
            <a:ext cx="1280160" cy="9144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78892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ISBN, Title, Language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2194560"/>
            <a:ext cx="1554480" cy="1828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65960" y="2194560"/>
            <a:ext cx="15544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39112" y="233172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Author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2697480"/>
            <a:ext cx="1280160" cy="9144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39112" y="278892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Name, Bio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2194560"/>
            <a:ext cx="1554480" cy="1828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0" y="2194560"/>
            <a:ext cx="15544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0752" y="233172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Publisher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2697480"/>
            <a:ext cx="1280160" cy="9144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0752" y="278892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Name, Address, Contact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49240" y="2194560"/>
            <a:ext cx="1554480" cy="1828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9240" y="2194560"/>
            <a:ext cx="15544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22392" y="233172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Category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2697480"/>
            <a:ext cx="1280160" cy="9144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22392" y="278892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Name, Description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2194560"/>
            <a:ext cx="1554480" cy="1828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0" y="2194560"/>
            <a:ext cx="15544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14032" y="233172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Edition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2697480"/>
            <a:ext cx="1280160" cy="9144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14032" y="278892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EditionNo, Date, Format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32520" y="2194560"/>
            <a:ext cx="1554480" cy="1828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32520" y="2194560"/>
            <a:ext cx="155448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05672" y="233172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Copy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2697480"/>
            <a:ext cx="1280160" cy="9144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05672" y="278892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AccessionNo, Status, Shelf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24160" y="2194560"/>
            <a:ext cx="1554480" cy="1828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24160" y="2194560"/>
            <a:ext cx="15544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97312" y="233172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Member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61320" y="2697480"/>
            <a:ext cx="1280160" cy="9144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97312" y="278892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Name, Email, Type, Active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4389120"/>
            <a:ext cx="1554480" cy="1828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4389120"/>
            <a:ext cx="15544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" y="4526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Issue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4892040"/>
            <a:ext cx="1280160" cy="9144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" y="498348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IssueDate, DueDate, Return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965960" y="4389120"/>
            <a:ext cx="1554480" cy="1828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965960" y="4389120"/>
            <a:ext cx="15544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39112" y="4526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Reservation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03120" y="4892040"/>
            <a:ext cx="1280160" cy="9144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39112" y="498348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Date, Queue, Status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57600" y="4389120"/>
            <a:ext cx="1554480" cy="1828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657600" y="4389120"/>
            <a:ext cx="15544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30752" y="4526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Fine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794760" y="4892040"/>
            <a:ext cx="1280160" cy="9144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30752" y="498348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Amount, Reason, PaidDate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349240" y="4389120"/>
            <a:ext cx="1554480" cy="1828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49240" y="4389120"/>
            <a:ext cx="15544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22392" y="4526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DigitalResource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0" y="4892040"/>
            <a:ext cx="1280160" cy="9144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22392" y="498348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Type, Format, URL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040880" y="4389120"/>
            <a:ext cx="1554480" cy="1828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040880" y="4389120"/>
            <a:ext cx="155448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14032" y="4526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DigitalAccessLog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78040" y="4892040"/>
            <a:ext cx="1280160" cy="9144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14032" y="498348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AccessDate, Type, IP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732520" y="4389120"/>
            <a:ext cx="1554480" cy="1828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32520" y="4389120"/>
            <a:ext cx="155448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805672" y="4526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BookAuthor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869680" y="4892040"/>
            <a:ext cx="1280160" cy="9144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805672" y="498348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BookID, AuthorID (M:N)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424160" y="4389120"/>
            <a:ext cx="1554480" cy="1828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424160" y="4389120"/>
            <a:ext cx="155448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497312" y="4526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BookCategory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561320" y="4892040"/>
            <a:ext cx="1280160" cy="9144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497312" y="498348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BookID, CategoryID (M:N)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Relational Schema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Tables with data types, primary keys, and foreign key relationships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06984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lational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103327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Integrity Constraints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474720" cy="42062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34747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UNIQUE 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Book.ISBN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Copy.AccessionNumber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Member.Email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Publisher.Name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Category.Name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103120"/>
            <a:ext cx="3474720" cy="42062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2103120"/>
            <a:ext cx="347472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240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CHECK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5603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Fine.Amount &gt;= 0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Book.TotalPages &gt; 0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Edition.EditionNumber &gt; 0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MaxBooksAllowed &gt; 0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QueuePosition &gt;= 1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DueDate &gt;= IssueDate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ReturnDate &gt;= IssueDate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103120"/>
            <a:ext cx="3657600" cy="42062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3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2103120"/>
            <a:ext cx="3657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9" y="2240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DEFAULT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256032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Copy.Status = 'Available'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Issue.Status = 'Active'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Reservation.Status = 'Pending'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Fine.Status = 'Pending'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Member.IsActive = TRUE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3657600"/>
            <a:ext cx="4572000" cy="4572000"/>
          </a:xfrm>
          <a:prstGeom prst="ellipse">
            <a:avLst/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4114800" cy="4114800"/>
          </a:xfrm>
          <a:prstGeom prst="ellipse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18288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017520"/>
            <a:ext cx="2103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3383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Library Circulation &amp; Digital Resource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023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Review 1 Presentation  |  DBMS Project Based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846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Calibr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