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4C81"/>
                </a:solidFill>
              </a:defRPr>
            </a:pPr>
            <a:r>
              <a:t>Library Circulation and Digital Resource</a:t>
            </a:r>
            <a:br/>
            <a:r>
              <a:t>Management System</a:t>
            </a:r>
          </a:p>
          <a:p>
            <a:pPr>
              <a:spcBef>
                <a:spcPts val="1400"/>
              </a:spcBef>
              <a:defRPr sz="1800">
                <a:solidFill>
                  <a:srgbClr val="1B6CA8"/>
                </a:solidFill>
              </a:defRPr>
            </a:pPr>
            <a:r>
              <a:t>Database Management Systems: Project Based Learning (DBMS PBL)</a:t>
            </a:r>
          </a:p>
          <a:p>
            <a:pPr>
              <a:spcBef>
                <a:spcPts val="800"/>
              </a:spcBef>
              <a:defRPr sz="1400">
                <a:solidFill>
                  <a:srgbClr val="718096"/>
                </a:solidFill>
              </a:defRPr>
            </a:pPr>
            <a:r>
              <a:t>Design, Normalization, Dual-Engine Relational Database, and Interactive Software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Department of Computer Science and Engineering | 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6CA8"/>
                </a:solidFill>
              </a:defRPr>
            </a:pPr>
            <a:r>
              <a:t>DBMS COURSE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Problem Statement and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Challenges in Legacy Library Systems: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Unreliable Asset Tracking: </a:t>
            </a:r>
            <a:r>
              <a:rPr sz="1300">
                <a:solidFill>
                  <a:srgbClr val="718096"/>
                </a:solidFill>
              </a:rPr>
              <a:t>Manual registers cause barcode discrepancies and misplaced physical copies.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No Digital Integration: </a:t>
            </a:r>
            <a:r>
              <a:rPr sz="1300">
                <a:solidFill>
                  <a:srgbClr val="718096"/>
                </a:solidFill>
              </a:rPr>
              <a:t>Older systems cannot monitor electronic downloads or manage e-books and audiobooks.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Manual Fine Errors: </a:t>
            </a:r>
            <a:r>
              <a:rPr sz="1300">
                <a:solidFill>
                  <a:srgbClr val="718096"/>
                </a:solidFill>
              </a:rPr>
              <a:t>Manual overdue calculations cause disputes, errors, and revenue leakage.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Unfair Waitlists: </a:t>
            </a:r>
            <a:r>
              <a:rPr sz="1300">
                <a:solidFill>
                  <a:srgbClr val="718096"/>
                </a:solidFill>
              </a:rPr>
              <a:t>Lack of automated First-In-First-Out queuing causes chaotic book reservations.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6CA8"/>
                </a:solidFill>
              </a:defRPr>
            </a:pPr>
            <a:r>
              <a:t>Target System Objectives: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Unified Centralized Catalog: </a:t>
            </a:r>
            <a:r>
              <a:rPr sz="1300">
                <a:solidFill>
                  <a:srgbClr val="718096"/>
                </a:solidFill>
              </a:rPr>
              <a:t>Manage physical editions, authors, publishers, and digital assets.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Automated Overdue Fines: </a:t>
            </a:r>
            <a:r>
              <a:rPr sz="1300">
                <a:solidFill>
                  <a:srgbClr val="718096"/>
                </a:solidFill>
              </a:rPr>
              <a:t>Enforce mathematical penalty rules with automated check-in assessments.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Strict FIFO Reservation: </a:t>
            </a:r>
            <a:r>
              <a:rPr sz="1300">
                <a:solidFill>
                  <a:srgbClr val="718096"/>
                </a:solidFill>
              </a:rPr>
              <a:t>Guarantee ordered book waitlists with automated queue allocation.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Security &amp; Audit Logging: </a:t>
            </a:r>
            <a:r>
              <a:rPr sz="1300">
                <a:solidFill>
                  <a:srgbClr val="718096"/>
                </a:solidFill>
              </a:rPr>
              <a:t>Maintain immutable patron access logs for all electronic media downloads.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6CA8"/>
                </a:solidFill>
              </a:defRPr>
            </a:pPr>
            <a:r>
              <a:t>DBMS COURSE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Relational Schema and 3NF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Normalized Relational Architecture (14 Cohesive Tables):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Catalog &amp; Inventory Entities: </a:t>
            </a:r>
            <a:r>
              <a:rPr sz="1400">
                <a:solidFill>
                  <a:srgbClr val="2D3748"/>
                </a:solidFill>
              </a:rPr>
              <a:t>Book, Author, BookAuthor, Publisher, Category, BookCategory, Edition, Copy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Patron &amp; Access Management: </a:t>
            </a:r>
            <a:r>
              <a:rPr sz="1400">
                <a:solidFill>
                  <a:srgbClr val="2D3748"/>
                </a:solidFill>
              </a:rPr>
              <a:t>Member (Students, Faculty, Staff, Public), Role-based borrowing quotas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Circulation Operations: </a:t>
            </a:r>
            <a:r>
              <a:rPr sz="1400">
                <a:solidFill>
                  <a:srgbClr val="2D3748"/>
                </a:solidFill>
              </a:rPr>
              <a:t>Issue (Checkouts and returns), Fine (Automated overdue penalties)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Resource Availability: </a:t>
            </a:r>
            <a:r>
              <a:rPr sz="1400">
                <a:solidFill>
                  <a:srgbClr val="2D3748"/>
                </a:solidFill>
              </a:rPr>
              <a:t>Reservation (FIFO waitlist queue with priority ordering)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Electronic Media Management: </a:t>
            </a:r>
            <a:r>
              <a:rPr sz="1400">
                <a:solidFill>
                  <a:srgbClr val="2D3748"/>
                </a:solidFill>
              </a:rPr>
              <a:t>DigitalResource (PDF, EPUB, MP3), DigitalAccessLog (Audit trail with IP and timestamp)</a:t>
            </a:r>
          </a:p>
          <a:p>
            <a:pPr>
              <a:spcBef>
                <a:spcPts val="1600"/>
              </a:spcBef>
              <a:defRPr sz="1300" b="1">
                <a:solidFill>
                  <a:srgbClr val="0F4C81"/>
                </a:solidFill>
              </a:defRPr>
            </a:pPr>
            <a:r>
              <a:t>Normalization Guarantee: Verified in 3NF and BCNF to ensure zero insertion, update, or deletion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6CA8"/>
                </a:solidFill>
              </a:defRPr>
            </a:pPr>
            <a:r>
              <a:t>DBMS COURSE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Working Model Implementation and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System Architecture and Technology Stack: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UI &amp; Dashboard: </a:t>
            </a:r>
            <a:r>
              <a:rPr sz="1300">
                <a:solidFill>
                  <a:srgbClr val="718096"/>
                </a:solidFill>
              </a:rPr>
              <a:t>Streamlit web application with custom CSS and navigation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Analytics &amp; Visuals: </a:t>
            </a:r>
            <a:r>
              <a:rPr sz="1300">
                <a:solidFill>
                  <a:srgbClr val="718096"/>
                </a:solidFill>
              </a:rPr>
              <a:t>Plotly charts for inventory status, member categories, and trends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Persistence Layer: </a:t>
            </a:r>
            <a:r>
              <a:rPr sz="1300">
                <a:solidFill>
                  <a:srgbClr val="718096"/>
                </a:solidFill>
              </a:rPr>
              <a:t>Dual-engine architecture: MySQL 8.4 Server with SQLite auto-failover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Data Operations: </a:t>
            </a:r>
            <a:r>
              <a:rPr sz="1300">
                <a:solidFill>
                  <a:srgbClr val="718096"/>
                </a:solidFill>
              </a:rPr>
              <a:t>Pandas 2.3 for transactional dataframes and complex relational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6CA8"/>
                </a:solidFill>
              </a:defRPr>
            </a:pPr>
            <a:r>
              <a:t>Implemented Core Modules: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Live Circulation Desk: </a:t>
            </a:r>
            <a:r>
              <a:rPr sz="1300">
                <a:solidFill>
                  <a:srgbClr val="718096"/>
                </a:solidFill>
              </a:rPr>
              <a:t>Enforces member borrowing limits; performs 1-click checkouts and returns.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Automated Overdue Fines: </a:t>
            </a:r>
            <a:r>
              <a:rPr sz="1300">
                <a:solidFill>
                  <a:srgbClr val="718096"/>
                </a:solidFill>
              </a:rPr>
              <a:t>Dynamically computes days past due date and assesses late penalties.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Reservation Waitlist: </a:t>
            </a:r>
            <a:r>
              <a:rPr sz="1300">
                <a:solidFill>
                  <a:srgbClr val="718096"/>
                </a:solidFill>
              </a:rPr>
              <a:t>Tracks FIFO waitlist queue and assigns priority positions.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D3748"/>
                </a:solidFill>
              </a:rPr>
              <a:t>Interactive SQL Runner: </a:t>
            </a:r>
            <a:r>
              <a:rPr sz="1300">
                <a:solidFill>
                  <a:srgbClr val="718096"/>
                </a:solidFill>
              </a:rPr>
              <a:t>Executes multi-table joins, subqueries, and aggregate evaluations in real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6CA8"/>
                </a:solidFill>
              </a:defRPr>
            </a:pPr>
            <a:r>
              <a:t>DBMS COURSE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Results, Verification Testing,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Verification Results and Project Summary: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Constraint Enforcement: </a:t>
            </a:r>
            <a:r>
              <a:rPr sz="1400">
                <a:solidFill>
                  <a:srgbClr val="2D3748"/>
                </a:solidFill>
              </a:rPr>
              <a:t>Verified 100% rejection of duplicate ISBNs and barcodes via unique constraints.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Quota Control: </a:t>
            </a:r>
            <a:r>
              <a:rPr sz="1400">
                <a:solidFill>
                  <a:srgbClr val="2D3748"/>
                </a:solidFill>
              </a:rPr>
              <a:t>Successfully blocked checkout attempts once patron max allowed book limits were reached.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Fine Accuracy: </a:t>
            </a:r>
            <a:r>
              <a:rPr sz="1400">
                <a:solidFill>
                  <a:srgbClr val="2D3748"/>
                </a:solidFill>
              </a:rPr>
              <a:t>Calculated overdue fines with zero computational errors across all return scenarios.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Audit Trail Integrity: </a:t>
            </a:r>
            <a:r>
              <a:rPr sz="1400">
                <a:solidFill>
                  <a:srgbClr val="2D3748"/>
                </a:solidFill>
              </a:rPr>
              <a:t>Every digital download accurately captured patron ID, timestamp, and client IP address.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B6CA8"/>
                </a:solidFill>
              </a:rPr>
              <a:t>Demonstrated Impact: </a:t>
            </a:r>
            <a:r>
              <a:rPr sz="1400">
                <a:solidFill>
                  <a:srgbClr val="2D3748"/>
                </a:solidFill>
              </a:rPr>
              <a:t>Provides an end-to-end, error-free management system for modern hybrid libraries.</a:t>
            </a:r>
          </a:p>
          <a:p>
            <a:pPr>
              <a:spcBef>
                <a:spcPts val="1800"/>
              </a:spcBef>
              <a:defRPr sz="1400" b="1">
                <a:solidFill>
                  <a:srgbClr val="0F4C81"/>
                </a:solidFill>
              </a:defRPr>
            </a:pPr>
            <a:r>
              <a:t>Conclusion: The project achieves all DBMS PBL objectives with a normalized database and a fully functional working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